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C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13" autoAdjust="0"/>
    <p:restoredTop sz="94660"/>
  </p:normalViewPr>
  <p:slideViewPr>
    <p:cSldViewPr snapToGrid="0">
      <p:cViewPr varScale="1">
        <p:scale>
          <a:sx n="81" d="100"/>
          <a:sy n="81" d="100"/>
        </p:scale>
        <p:origin x="78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a:fillRect/>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a:fillRect/>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7E3DDAB5-664A-4854-B353-73C9B9DA8D5B}" type="datetimeFigureOut">
              <a:rPr lang="en-IN" smtClean="0"/>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76B6FFB8-1327-4598-BB44-1D075AD01467}" type="slidenum">
              <a:rPr lang="en-IN" smtClean="0"/>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7E3DDAB5-664A-4854-B353-73C9B9DA8D5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B6FFB8-1327-4598-BB44-1D075AD01467}"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E3DDAB5-664A-4854-B353-73C9B9DA8D5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B6FFB8-1327-4598-BB44-1D075AD01467}" type="slidenum">
              <a:rPr lang="en-IN" smtClean="0"/>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7E3DDAB5-664A-4854-B353-73C9B9DA8D5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B6FFB8-1327-4598-BB44-1D075AD01467}" type="slidenum">
              <a:rPr lang="en-IN" smtClean="0"/>
            </a:fld>
            <a:endParaRPr lang="en-IN"/>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7E3DDAB5-664A-4854-B353-73C9B9DA8D5B}"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6B6FFB8-1327-4598-BB44-1D075AD01467}" type="slidenum">
              <a:rPr lang="en-IN" smtClean="0"/>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E3DDAB5-664A-4854-B353-73C9B9DA8D5B}"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6B6FFB8-1327-4598-BB44-1D075AD01467}" type="slidenum">
              <a:rPr lang="en-IN" smtClean="0"/>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3DDAB5-664A-4854-B353-73C9B9DA8D5B}"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6B6FFB8-1327-4598-BB44-1D075AD01467}"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E3DDAB5-664A-4854-B353-73C9B9DA8D5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B6FFB8-1327-4598-BB44-1D075AD01467}" type="slidenum">
              <a:rPr lang="en-IN" smtClean="0"/>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E3DDAB5-664A-4854-B353-73C9B9DA8D5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B6FFB8-1327-4598-BB44-1D075AD01467}"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E3DDAB5-664A-4854-B353-73C9B9DA8D5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B6FFB8-1327-4598-BB44-1D075AD01467}"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E3DDAB5-664A-4854-B353-73C9B9DA8D5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B6FFB8-1327-4598-BB44-1D075AD01467}" type="slidenum">
              <a:rPr lang="en-IN" smtClean="0"/>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E3DDAB5-664A-4854-B353-73C9B9DA8D5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B6FFB8-1327-4598-BB44-1D075AD01467}" type="slidenum">
              <a:rPr lang="en-IN" smtClean="0"/>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endParaRPr lang="en-US" sz="8000">
              <a:solidFill>
                <a:schemeClr val="tx1"/>
              </a:solidFill>
              <a:effectLst/>
            </a:endParaRP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endParaRPr lang="en-US" sz="8000">
              <a:solidFill>
                <a:schemeClr val="tx1"/>
              </a:solidFill>
              <a:effectLst/>
            </a:endParaRP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E3DDAB5-664A-4854-B353-73C9B9DA8D5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B6FFB8-1327-4598-BB44-1D075AD01467}" type="slidenum">
              <a:rPr lang="en-IN" smtClean="0"/>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E3DDAB5-664A-4854-B353-73C9B9DA8D5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B6FFB8-1327-4598-BB44-1D075AD01467}" type="slidenum">
              <a:rPr lang="en-IN" smtClean="0"/>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endParaRPr lang="en-US" sz="8000">
              <a:solidFill>
                <a:schemeClr val="tx1"/>
              </a:solidFill>
              <a:effectLst/>
            </a:endParaRP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endParaRPr lang="en-US" sz="8000">
              <a:solidFill>
                <a:schemeClr val="tx1"/>
              </a:solidFill>
              <a:effectLst/>
            </a:endParaRP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E3DDAB5-664A-4854-B353-73C9B9DA8D5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B6FFB8-1327-4598-BB44-1D075AD01467}" type="slidenum">
              <a:rPr lang="en-IN" smtClean="0"/>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7E3DDAB5-664A-4854-B353-73C9B9DA8D5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B6FFB8-1327-4598-BB44-1D075AD01467}" type="slidenum">
              <a:rPr lang="en-IN" smtClean="0"/>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7E3DDAB5-664A-4854-B353-73C9B9DA8D5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B6FFB8-1327-4598-BB44-1D075AD01467}" type="slidenum">
              <a:rPr lang="en-IN" smtClean="0"/>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4.png"/><Relationship Id="rId18" Type="http://schemas.openxmlformats.org/officeDocument/2006/relationships/image" Target="../media/image3.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19">
              <a:extLst>
                <a:ext uri="{28A0092B-C50C-407E-A947-70E740481C1C}">
                  <a14:useLocalDpi xmlns:a14="http://schemas.microsoft.com/office/drawing/2010/main" val="0"/>
                </a:ext>
              </a:extLst>
            </a:blip>
            <a:srcRect r="5093"/>
            <a:stretch>
              <a:fillRect/>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19">
              <a:extLst>
                <a:ext uri="{28A0092B-C50C-407E-A947-70E740481C1C}">
                  <a14:useLocalDpi xmlns:a14="http://schemas.microsoft.com/office/drawing/2010/main" val="0"/>
                </a:ext>
              </a:extLst>
            </a:blip>
            <a:srcRect r="5093"/>
            <a:stretch>
              <a:fillRect/>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E3DDAB5-664A-4854-B353-73C9B9DA8D5B}" type="datetimeFigureOut">
              <a:rPr lang="en-IN" smtClean="0"/>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6B6FFB8-1327-4598-BB44-1D075AD01467}"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18641" y="1861530"/>
            <a:ext cx="6815669" cy="1515533"/>
          </a:xfrm>
        </p:spPr>
        <p:txBody>
          <a:bodyPr/>
          <a:lstStyle/>
          <a:p>
            <a:r>
              <a:rPr lang="en-US">
                <a:effectLst>
                  <a:glow rad="101600">
                    <a:schemeClr val="accent3">
                      <a:satMod val="175000"/>
                      <a:alpha val="40000"/>
                    </a:schemeClr>
                  </a:glow>
                </a:effectLst>
              </a:rPr>
              <a:t>E-Commerce Data Analysis Using SQL</a:t>
            </a:r>
            <a:endParaRPr lang="en-IN">
              <a:effectLst>
                <a:glow rad="101600">
                  <a:schemeClr val="accent3">
                    <a:satMod val="175000"/>
                    <a:alpha val="40000"/>
                  </a:schemeClr>
                </a:glow>
              </a:effectLst>
            </a:endParaRPr>
          </a:p>
        </p:txBody>
      </p:sp>
      <p:sp>
        <p:nvSpPr>
          <p:cNvPr id="3" name="Subtitle 2"/>
          <p:cNvSpPr>
            <a:spLocks noGrp="1"/>
          </p:cNvSpPr>
          <p:nvPr>
            <p:ph type="subTitle" idx="1"/>
          </p:nvPr>
        </p:nvSpPr>
        <p:spPr/>
        <p:txBody>
          <a:bodyPr>
            <a:normAutofit/>
          </a:bodyPr>
          <a:lstStyle/>
          <a:p>
            <a:r>
              <a:rPr lang="en-US" sz="4000">
                <a:effectLst>
                  <a:glow rad="63500">
                    <a:schemeClr val="accent2">
                      <a:satMod val="175000"/>
                      <a:alpha val="40000"/>
                    </a:schemeClr>
                  </a:glow>
                </a:effectLst>
              </a:rPr>
              <a:t>Business Insights From E-Commerce Data</a:t>
            </a:r>
            <a:endParaRPr lang="en-IN" sz="4000">
              <a:effectLst>
                <a:glow rad="63500">
                  <a:schemeClr val="accent2">
                    <a:satMod val="175000"/>
                    <a:alpha val="40000"/>
                  </a:schemeClr>
                </a:glo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effectLst>
                  <a:glow rad="139700">
                    <a:schemeClr val="accent1">
                      <a:satMod val="175000"/>
                      <a:alpha val="40000"/>
                    </a:schemeClr>
                  </a:glow>
                </a:effectLst>
              </a:rPr>
              <a:t>   Introduction</a:t>
            </a:r>
            <a:endParaRPr lang="en-IN">
              <a:effectLst>
                <a:glow rad="139700">
                  <a:schemeClr val="accent1">
                    <a:satMod val="175000"/>
                    <a:alpha val="40000"/>
                  </a:schemeClr>
                </a:glow>
              </a:effectLst>
            </a:endParaRPr>
          </a:p>
        </p:txBody>
      </p:sp>
      <p:sp>
        <p:nvSpPr>
          <p:cNvPr id="3" name="Content Placeholder 2"/>
          <p:cNvSpPr>
            <a:spLocks noGrp="1"/>
          </p:cNvSpPr>
          <p:nvPr>
            <p:ph idx="1"/>
          </p:nvPr>
        </p:nvSpPr>
        <p:spPr/>
        <p:txBody>
          <a:bodyPr>
            <a:normAutofit fontScale="92500" lnSpcReduction="20000"/>
          </a:bodyPr>
          <a:lstStyle/>
          <a:p>
            <a:r>
              <a:rPr lang="en-IN"/>
              <a:t>E-Commerce (Electronic Commerce) is the process of buying and selling goods and services through the internet. It allows businesses and customers to perform transactions online using websites or mobile applications without visiting physical stores.</a:t>
            </a:r>
            <a:endParaRPr lang="en-IN"/>
          </a:p>
          <a:p>
            <a:r>
              <a:rPr lang="en-IN"/>
              <a:t>E-Commerce provides a convenient way for customers to search products, compare prices, place orders, and make digital payments from anywhere at any time. Businesses use e-commerce platforms to reach more customers, manage sales, and grow their market.</a:t>
            </a:r>
            <a:endParaRPr lang="en-IN"/>
          </a:p>
          <a:p>
            <a:r>
              <a:rPr lang="en-IN" b="1"/>
              <a:t>Examples of E-Commerce platforms:</a:t>
            </a:r>
            <a:r>
              <a:rPr lang="en-IN"/>
              <a:t> Amazon, Flipkart, eBay</a:t>
            </a:r>
            <a:endParaRPr lang="en-IN"/>
          </a:p>
          <a:p>
            <a:r>
              <a:rPr lang="en-IN" b="1"/>
              <a:t>Types of E-Commerce:</a:t>
            </a:r>
            <a:endParaRPr lang="en-IN"/>
          </a:p>
          <a:p>
            <a:pPr marL="0" indent="0">
              <a:buNone/>
            </a:pPr>
            <a:endParaRPr lang="en-IN"/>
          </a:p>
        </p:txBody>
      </p:sp>
      <p:pic>
        <p:nvPicPr>
          <p:cNvPr id="5" name="Picture 4"/>
          <p:cNvPicPr>
            <a:picLocks noChangeAspect="1"/>
          </p:cNvPicPr>
          <p:nvPr/>
        </p:nvPicPr>
        <p:blipFill>
          <a:blip r:embed="rId1"/>
          <a:stretch>
            <a:fillRect/>
          </a:stretch>
        </p:blipFill>
        <p:spPr>
          <a:xfrm>
            <a:off x="7720552" y="772698"/>
            <a:ext cx="2742529" cy="16487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ln w="22225">
                  <a:solidFill>
                    <a:schemeClr val="accent2"/>
                  </a:solidFill>
                  <a:prstDash val="solid"/>
                </a:ln>
                <a:solidFill>
                  <a:schemeClr val="accent6">
                    <a:lumMod val="75000"/>
                  </a:schemeClr>
                </a:solidFill>
                <a:effectLst>
                  <a:glow rad="139700">
                    <a:schemeClr val="accent5">
                      <a:satMod val="175000"/>
                      <a:alpha val="40000"/>
                    </a:schemeClr>
                  </a:glow>
                </a:effectLst>
              </a:rPr>
              <a:t>Objectives</a:t>
            </a:r>
            <a:endParaRPr lang="en-IN" b="1">
              <a:ln w="22225">
                <a:solidFill>
                  <a:schemeClr val="accent2"/>
                </a:solidFill>
                <a:prstDash val="solid"/>
              </a:ln>
              <a:solidFill>
                <a:schemeClr val="accent6">
                  <a:lumMod val="75000"/>
                </a:schemeClr>
              </a:solidFill>
              <a:effectLst>
                <a:glow rad="139700">
                  <a:schemeClr val="accent5">
                    <a:satMod val="175000"/>
                    <a:alpha val="40000"/>
                  </a:schemeClr>
                </a:glow>
              </a:effectLst>
            </a:endParaRPr>
          </a:p>
        </p:txBody>
      </p:sp>
      <p:sp>
        <p:nvSpPr>
          <p:cNvPr id="3" name="Content Placeholder 2"/>
          <p:cNvSpPr>
            <a:spLocks noGrp="1"/>
          </p:cNvSpPr>
          <p:nvPr>
            <p:ph idx="1"/>
          </p:nvPr>
        </p:nvSpPr>
        <p:spPr/>
        <p:txBody>
          <a:bodyPr>
            <a:normAutofit fontScale="85000" lnSpcReduction="10000"/>
          </a:bodyPr>
          <a:lstStyle/>
          <a:p>
            <a:r>
              <a:rPr lang="en-IN" b="1"/>
              <a:t>Increase Sales</a:t>
            </a:r>
            <a:r>
              <a:rPr lang="en-IN"/>
              <a:t> – To sell products and services to more customers through online platforms. </a:t>
            </a:r>
            <a:endParaRPr lang="en-IN"/>
          </a:p>
          <a:p>
            <a:r>
              <a:rPr lang="en-IN" b="1"/>
              <a:t>Reach Global Customers</a:t>
            </a:r>
            <a:r>
              <a:rPr lang="en-IN"/>
              <a:t> – To expand business beyond local markets and reach customers worldwide. </a:t>
            </a:r>
            <a:endParaRPr lang="en-IN"/>
          </a:p>
          <a:p>
            <a:r>
              <a:rPr lang="en-IN" b="1"/>
              <a:t>Provide Convenience</a:t>
            </a:r>
            <a:r>
              <a:rPr lang="en-IN"/>
              <a:t> – To allow customers to buy products anytime and from anywhere. </a:t>
            </a:r>
            <a:endParaRPr lang="en-IN"/>
          </a:p>
          <a:p>
            <a:r>
              <a:rPr lang="en-IN" b="1"/>
              <a:t>Reduce Business Costs</a:t>
            </a:r>
            <a:r>
              <a:rPr lang="en-IN"/>
              <a:t> – To reduce expenses related to physical stores, marketing, and operations. </a:t>
            </a:r>
            <a:endParaRPr lang="en-IN"/>
          </a:p>
          <a:p>
            <a:r>
              <a:rPr lang="en-IN" b="1"/>
              <a:t>Improve Customer Service</a:t>
            </a:r>
            <a:r>
              <a:rPr lang="en-IN"/>
              <a:t> – To provide faster support, easy order tracking, and better shopping experience.</a:t>
            </a: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n w="0"/>
                <a:solidFill>
                  <a:schemeClr val="tx1"/>
                </a:solidFill>
                <a:effectLst>
                  <a:outerShdw blurRad="38100" dist="19050" dir="2700000" algn="tl" rotWithShape="0">
                    <a:schemeClr val="dk1">
                      <a:alpha val="40000"/>
                    </a:schemeClr>
                  </a:outerShdw>
                </a:effectLst>
              </a:rPr>
              <a:t>Database Tables</a:t>
            </a:r>
            <a:endParaRPr lang="en-IN">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US"/>
              <a:t>Category</a:t>
            </a:r>
            <a:endParaRPr lang="en-US"/>
          </a:p>
          <a:p>
            <a:r>
              <a:rPr lang="en-US"/>
              <a:t>Product</a:t>
            </a:r>
            <a:endParaRPr lang="en-US"/>
          </a:p>
          <a:p>
            <a:r>
              <a:rPr lang="en-US"/>
              <a:t>Supplier</a:t>
            </a:r>
            <a:endParaRPr lang="en-US"/>
          </a:p>
          <a:p>
            <a:r>
              <a:rPr lang="en-US"/>
              <a:t>Order_details</a:t>
            </a:r>
            <a:endParaRPr lang="en-US"/>
          </a:p>
          <a:p>
            <a:r>
              <a:rPr lang="en-US"/>
              <a:t>Customers</a:t>
            </a: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700" b="1">
                <a:ln w="22225">
                  <a:solidFill>
                    <a:schemeClr val="accent2"/>
                  </a:solidFill>
                  <a:prstDash val="solid"/>
                </a:ln>
                <a:solidFill>
                  <a:schemeClr val="accent4">
                    <a:lumMod val="60000"/>
                    <a:lumOff val="40000"/>
                  </a:schemeClr>
                </a:solidFill>
                <a:effectLst>
                  <a:glow rad="139700">
                    <a:schemeClr val="accent6">
                      <a:satMod val="175000"/>
                      <a:alpha val="40000"/>
                    </a:schemeClr>
                  </a:glow>
                </a:effectLst>
              </a:rPr>
              <a:t> </a:t>
            </a:r>
            <a:r>
              <a:rPr lang="en-US" sz="2700">
                <a:ln w="0"/>
                <a:solidFill>
                  <a:schemeClr val="tx1"/>
                </a:solidFill>
                <a:effectLst>
                  <a:outerShdw blurRad="38100" dist="19050" dir="2700000" algn="tl" rotWithShape="0">
                    <a:schemeClr val="dk1">
                      <a:alpha val="40000"/>
                    </a:schemeClr>
                  </a:outerShdw>
                </a:effectLst>
              </a:rPr>
              <a:t>Create a report that shows the CategoryName and Description from the categories table sorted by CategoryName</a:t>
            </a:r>
            <a:r>
              <a:rPr lang="en-US" b="1">
                <a:ln w="22225">
                  <a:solidFill>
                    <a:schemeClr val="accent2"/>
                  </a:solidFill>
                  <a:prstDash val="solid"/>
                </a:ln>
                <a:solidFill>
                  <a:schemeClr val="accent4">
                    <a:lumMod val="60000"/>
                    <a:lumOff val="40000"/>
                  </a:schemeClr>
                </a:solidFill>
                <a:effectLst>
                  <a:glow rad="139700">
                    <a:schemeClr val="accent6">
                      <a:satMod val="175000"/>
                      <a:alpha val="40000"/>
                    </a:schemeClr>
                  </a:glow>
                </a:effectLst>
              </a:rPr>
              <a:t>.</a:t>
            </a:r>
            <a:endParaRPr lang="en-IN" b="1">
              <a:ln w="22225">
                <a:solidFill>
                  <a:schemeClr val="accent2"/>
                </a:solidFill>
                <a:prstDash val="solid"/>
              </a:ln>
              <a:solidFill>
                <a:schemeClr val="accent4">
                  <a:lumMod val="60000"/>
                  <a:lumOff val="40000"/>
                </a:schemeClr>
              </a:solidFill>
              <a:effectLst>
                <a:glow rad="139700">
                  <a:schemeClr val="accent6">
                    <a:satMod val="175000"/>
                    <a:alpha val="40000"/>
                  </a:schemeClr>
                </a:glow>
              </a:effectLst>
            </a:endParaRPr>
          </a:p>
        </p:txBody>
      </p:sp>
      <p:sp>
        <p:nvSpPr>
          <p:cNvPr id="3" name="Content Placeholder 2"/>
          <p:cNvSpPr>
            <a:spLocks noGrp="1"/>
          </p:cNvSpPr>
          <p:nvPr>
            <p:ph idx="1"/>
          </p:nvPr>
        </p:nvSpPr>
        <p:spPr>
          <a:xfrm>
            <a:off x="5838827" y="2918882"/>
            <a:ext cx="5915023" cy="710143"/>
          </a:xfrm>
        </p:spPr>
        <p:txBody>
          <a:bodyPr>
            <a:normAutofit fontScale="92500" lnSpcReduction="10000"/>
          </a:bodyPr>
          <a:lstStyle/>
          <a:p>
            <a:pPr marL="0" indent="0">
              <a:buNone/>
            </a:pPr>
            <a:r>
              <a:rPr lang="en-US">
                <a:ln w="0"/>
                <a:solidFill>
                  <a:schemeClr val="tx1"/>
                </a:solidFill>
                <a:effectLst>
                  <a:outerShdw blurRad="38100" dist="19050" dir="2700000" algn="tl" rotWithShape="0">
                    <a:schemeClr val="dk1">
                      <a:alpha val="40000"/>
                    </a:schemeClr>
                  </a:outerShdw>
                </a:effectLst>
              </a:rPr>
              <a:t>select categoryname, description from categories order by categoryname;</a:t>
            </a:r>
            <a:endParaRPr lang="en-IN">
              <a:ln w="0"/>
              <a:solidFill>
                <a:schemeClr val="tx1"/>
              </a:solidFill>
              <a:effectLst>
                <a:outerShdw blurRad="38100" dist="19050" dir="2700000" algn="tl" rotWithShape="0">
                  <a:schemeClr val="dk1">
                    <a:alpha val="40000"/>
                  </a:schemeClr>
                </a:outerShdw>
              </a:effectLst>
            </a:endParaRPr>
          </a:p>
        </p:txBody>
      </p:sp>
      <p:sp>
        <p:nvSpPr>
          <p:cNvPr id="6" name="TextBox 5"/>
          <p:cNvSpPr txBox="1"/>
          <p:nvPr/>
        </p:nvSpPr>
        <p:spPr>
          <a:xfrm>
            <a:off x="1506745" y="4145673"/>
            <a:ext cx="4446380" cy="646331"/>
          </a:xfrm>
          <a:prstGeom prst="rect">
            <a:avLst/>
          </a:prstGeom>
          <a:noFill/>
        </p:spPr>
        <p:txBody>
          <a:bodyPr wrap="square" rtlCol="0">
            <a:spAutoFit/>
          </a:bodyPr>
          <a:lstStyle/>
          <a:p>
            <a:r>
              <a:rPr lang="en-IN"/>
              <a:t>This report displays all product categories along with their descriptions.</a:t>
            </a:r>
            <a:endParaRPr lang="en-IN">
              <a:effectLst>
                <a:glow rad="63500">
                  <a:schemeClr val="accent1">
                    <a:satMod val="175000"/>
                    <a:alpha val="40000"/>
                  </a:schemeClr>
                </a:glow>
              </a:effectLst>
            </a:endParaRPr>
          </a:p>
        </p:txBody>
      </p:sp>
      <p:pic>
        <p:nvPicPr>
          <p:cNvPr id="7" name="Picture 6"/>
          <p:cNvPicPr>
            <a:picLocks noChangeAspect="1"/>
          </p:cNvPicPr>
          <p:nvPr/>
        </p:nvPicPr>
        <p:blipFill>
          <a:blip r:embed="rId1"/>
          <a:stretch>
            <a:fillRect/>
          </a:stretch>
        </p:blipFill>
        <p:spPr>
          <a:xfrm>
            <a:off x="7393326" y="3913078"/>
            <a:ext cx="3589331" cy="170529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a:ln w="0"/>
                <a:solidFill>
                  <a:schemeClr val="tx1"/>
                </a:solidFill>
                <a:effectLst>
                  <a:outerShdw blurRad="38100" dist="19050" dir="2700000" algn="tl" rotWithShape="0">
                    <a:schemeClr val="dk1">
                      <a:alpha val="40000"/>
                    </a:schemeClr>
                  </a:outerShdw>
                </a:effectLst>
              </a:rPr>
              <a:t>Create a report that shows the ContactName, CompanyName, ContactTitle and Phone number from the customers table sorted by Phone.</a:t>
            </a:r>
            <a:endParaRPr lang="en-IN" sz="280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a:xfrm>
            <a:off x="5410201" y="3003238"/>
            <a:ext cx="5943599" cy="872068"/>
          </a:xfrm>
        </p:spPr>
        <p:txBody>
          <a:bodyPr>
            <a:normAutofit fontScale="92500"/>
          </a:bodyPr>
          <a:lstStyle/>
          <a:p>
            <a:pPr marL="0" indent="0">
              <a:buNone/>
            </a:pPr>
            <a:r>
              <a:rPr lang="en-US">
                <a:ln w="0"/>
                <a:solidFill>
                  <a:schemeClr val="tx1"/>
                </a:solidFill>
                <a:effectLst>
                  <a:outerShdw blurRad="38100" dist="19050" dir="2700000" algn="tl" rotWithShape="0">
                    <a:schemeClr val="dk1">
                      <a:alpha val="40000"/>
                    </a:schemeClr>
                  </a:outerShdw>
                </a:effectLst>
              </a:rPr>
              <a:t>select contactname, companyname, contactname, contacttitle, phone from customers order by phone;</a:t>
            </a:r>
            <a:endParaRPr lang="en-IN">
              <a:ln w="0"/>
              <a:solidFill>
                <a:schemeClr val="tx1"/>
              </a:solidFill>
              <a:effectLst>
                <a:outerShdw blurRad="38100" dist="19050" dir="2700000" algn="tl" rotWithShape="0">
                  <a:schemeClr val="dk1">
                    <a:alpha val="40000"/>
                  </a:schemeClr>
                </a:outerShdw>
              </a:effectLst>
            </a:endParaRPr>
          </a:p>
        </p:txBody>
      </p:sp>
      <p:sp>
        <p:nvSpPr>
          <p:cNvPr id="6" name="TextBox 5"/>
          <p:cNvSpPr txBox="1"/>
          <p:nvPr/>
        </p:nvSpPr>
        <p:spPr>
          <a:xfrm>
            <a:off x="1126407" y="3833338"/>
            <a:ext cx="3590923" cy="1477328"/>
          </a:xfrm>
          <a:prstGeom prst="rect">
            <a:avLst/>
          </a:prstGeom>
          <a:noFill/>
        </p:spPr>
        <p:txBody>
          <a:bodyPr wrap="square" rtlCol="0">
            <a:spAutoFit/>
          </a:bodyPr>
          <a:lstStyle/>
          <a:p>
            <a:r>
              <a:rPr lang="en-IN"/>
              <a:t>This report shows customer contact details sorted by phone number. It helps in easy customer identification, better communication, and efficient management of customer records.</a:t>
            </a:r>
            <a:endParaRPr lang="en-IN"/>
          </a:p>
        </p:txBody>
      </p:sp>
      <p:pic>
        <p:nvPicPr>
          <p:cNvPr id="8" name="Picture 7"/>
          <p:cNvPicPr>
            <a:picLocks noChangeAspect="1"/>
          </p:cNvPicPr>
          <p:nvPr/>
        </p:nvPicPr>
        <p:blipFill>
          <a:blip r:embed="rId1"/>
          <a:stretch>
            <a:fillRect/>
          </a:stretch>
        </p:blipFill>
        <p:spPr>
          <a:xfrm>
            <a:off x="5333478" y="4412701"/>
            <a:ext cx="6020322" cy="146316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effectLst>
                  <a:glow rad="139700">
                    <a:schemeClr val="accent3">
                      <a:satMod val="175000"/>
                      <a:alpha val="40000"/>
                    </a:schemeClr>
                  </a:glow>
                </a:effectLst>
              </a:rPr>
            </a:br>
            <a:r>
              <a:rPr lang="en-US" sz="3100">
                <a:ln w="0"/>
                <a:solidFill>
                  <a:schemeClr val="tx1"/>
                </a:solidFill>
                <a:effectLst>
                  <a:outerShdw blurRad="38100" dist="19050" dir="2700000" algn="tl" rotWithShape="0">
                    <a:schemeClr val="dk1">
                      <a:alpha val="40000"/>
                    </a:schemeClr>
                  </a:outerShdw>
                </a:effectLst>
              </a:rPr>
              <a:t>Create a report that shows all the CustomerID in lowercase letter and renamed as ID from the customers table.</a:t>
            </a:r>
            <a:endParaRPr lang="en-IN">
              <a:solidFill>
                <a:schemeClr val="accent3">
                  <a:lumMod val="75000"/>
                </a:schemeClr>
              </a:solidFill>
              <a:effectLst>
                <a:glow rad="228600">
                  <a:schemeClr val="accent4">
                    <a:satMod val="175000"/>
                    <a:alpha val="40000"/>
                  </a:schemeClr>
                </a:glow>
              </a:effectLst>
            </a:endParaRPr>
          </a:p>
        </p:txBody>
      </p:sp>
      <p:sp>
        <p:nvSpPr>
          <p:cNvPr id="3" name="Content Placeholder 2"/>
          <p:cNvSpPr>
            <a:spLocks noGrp="1"/>
          </p:cNvSpPr>
          <p:nvPr>
            <p:ph idx="1"/>
          </p:nvPr>
        </p:nvSpPr>
        <p:spPr>
          <a:xfrm>
            <a:off x="838201" y="2992966"/>
            <a:ext cx="6248399" cy="872068"/>
          </a:xfrm>
        </p:spPr>
        <p:txBody>
          <a:bodyPr/>
          <a:lstStyle/>
          <a:p>
            <a:r>
              <a:rPr lang="en-US">
                <a:ln w="0"/>
                <a:solidFill>
                  <a:schemeClr val="tx1"/>
                </a:solidFill>
                <a:effectLst>
                  <a:outerShdw blurRad="38100" dist="19050" dir="2700000" algn="tl" rotWithShape="0">
                    <a:schemeClr val="dk1">
                      <a:alpha val="40000"/>
                    </a:schemeClr>
                  </a:outerShdw>
                </a:effectLst>
              </a:rPr>
              <a:t>select lower(customerid) as ID from customers ;</a:t>
            </a:r>
            <a:endParaRPr lang="en-IN">
              <a:ln w="0"/>
              <a:solidFill>
                <a:schemeClr val="tx1"/>
              </a:solidFill>
              <a:effectLst>
                <a:outerShdw blurRad="38100" dist="19050" dir="2700000" algn="tl" rotWithShape="0">
                  <a:schemeClr val="dk1">
                    <a:alpha val="40000"/>
                  </a:schemeClr>
                </a:outerShdw>
              </a:effectLst>
            </a:endParaRPr>
          </a:p>
        </p:txBody>
      </p:sp>
      <p:sp>
        <p:nvSpPr>
          <p:cNvPr id="7" name="TextBox 6"/>
          <p:cNvSpPr txBox="1"/>
          <p:nvPr/>
        </p:nvSpPr>
        <p:spPr>
          <a:xfrm>
            <a:off x="6572250" y="4445017"/>
            <a:ext cx="4962524" cy="1200329"/>
          </a:xfrm>
          <a:prstGeom prst="rect">
            <a:avLst/>
          </a:prstGeom>
          <a:noFill/>
        </p:spPr>
        <p:txBody>
          <a:bodyPr wrap="square" rtlCol="0">
            <a:spAutoFit/>
          </a:bodyPr>
          <a:lstStyle/>
          <a:p>
            <a:r>
              <a:rPr lang="en-IN"/>
              <a:t>This report displays all Customer IDs in lowercase format with a renamed column as ID. It helps maintain consistent data formatting and makes customer identification easier.</a:t>
            </a:r>
            <a:endParaRPr lang="en-IN"/>
          </a:p>
        </p:txBody>
      </p:sp>
      <p:pic>
        <p:nvPicPr>
          <p:cNvPr id="6" name="Picture 5"/>
          <p:cNvPicPr>
            <a:picLocks noChangeAspect="1"/>
          </p:cNvPicPr>
          <p:nvPr/>
        </p:nvPicPr>
        <p:blipFill>
          <a:blip r:embed="rId1"/>
          <a:stretch>
            <a:fillRect/>
          </a:stretch>
        </p:blipFill>
        <p:spPr>
          <a:xfrm>
            <a:off x="2610628" y="3666101"/>
            <a:ext cx="1933092" cy="20653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a:ln w="0"/>
                <a:solidFill>
                  <a:schemeClr val="tx1"/>
                </a:solidFill>
                <a:effectLst>
                  <a:outerShdw blurRad="38100" dist="19050" dir="2700000" algn="tl" rotWithShape="0">
                    <a:schemeClr val="dk1">
                      <a:alpha val="40000"/>
                    </a:schemeClr>
                  </a:outerShdw>
                </a:effectLst>
              </a:rPr>
              <a:t>Create a report that shows the CompanyName, Fax, Phone, Country, HomePage from the suppliers table sorted by the Country in -- descending order then by CompanyName in ascending order.</a:t>
            </a:r>
            <a:br>
              <a:rPr lang="en-US" sz="2800">
                <a:ln w="0"/>
                <a:solidFill>
                  <a:schemeClr val="tx1"/>
                </a:solidFill>
                <a:effectLst>
                  <a:outerShdw blurRad="38100" dist="19050" dir="2700000" algn="tl" rotWithShape="0">
                    <a:schemeClr val="dk1">
                      <a:alpha val="40000"/>
                    </a:schemeClr>
                  </a:outerShdw>
                </a:effectLst>
              </a:rPr>
            </a:br>
            <a:endParaRPr lang="en-IN" sz="280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a:xfrm>
            <a:off x="5476874" y="2880782"/>
            <a:ext cx="5419724" cy="681568"/>
          </a:xfrm>
        </p:spPr>
        <p:txBody>
          <a:bodyPr>
            <a:normAutofit fontScale="70000" lnSpcReduction="20000"/>
          </a:bodyPr>
          <a:lstStyle/>
          <a:p>
            <a:r>
              <a:rPr lang="en-US">
                <a:ln w="0"/>
                <a:solidFill>
                  <a:schemeClr val="tx1"/>
                </a:solidFill>
                <a:effectLst>
                  <a:outerShdw blurRad="38100" dist="19050" dir="2700000" algn="tl" rotWithShape="0">
                    <a:schemeClr val="dk1">
                      <a:alpha val="40000"/>
                    </a:schemeClr>
                  </a:outerShdw>
                </a:effectLst>
              </a:rPr>
              <a:t>select companyname, fax, phone, country, address from supplier order by country desc, companyname asc;</a:t>
            </a:r>
            <a:endParaRPr lang="en-IN">
              <a:ln w="0"/>
              <a:solidFill>
                <a:schemeClr val="tx1"/>
              </a:solidFill>
              <a:effectLst>
                <a:outerShdw blurRad="38100" dist="19050" dir="2700000" algn="tl" rotWithShape="0">
                  <a:schemeClr val="dk1">
                    <a:alpha val="40000"/>
                  </a:schemeClr>
                </a:outerShdw>
              </a:effectLst>
            </a:endParaRPr>
          </a:p>
        </p:txBody>
      </p:sp>
      <p:pic>
        <p:nvPicPr>
          <p:cNvPr id="6" name="Picture 5"/>
          <p:cNvPicPr>
            <a:picLocks noChangeAspect="1"/>
          </p:cNvPicPr>
          <p:nvPr/>
        </p:nvPicPr>
        <p:blipFill>
          <a:blip r:embed="rId1"/>
          <a:stretch>
            <a:fillRect/>
          </a:stretch>
        </p:blipFill>
        <p:spPr>
          <a:xfrm>
            <a:off x="5677293" y="4115495"/>
            <a:ext cx="5768840" cy="1760373"/>
          </a:xfrm>
          <a:prstGeom prst="rect">
            <a:avLst/>
          </a:prstGeom>
        </p:spPr>
      </p:pic>
      <p:sp>
        <p:nvSpPr>
          <p:cNvPr id="9" name="TextBox 8"/>
          <p:cNvSpPr txBox="1"/>
          <p:nvPr/>
        </p:nvSpPr>
        <p:spPr>
          <a:xfrm>
            <a:off x="935610" y="3429000"/>
            <a:ext cx="3551549" cy="2031325"/>
          </a:xfrm>
          <a:prstGeom prst="rect">
            <a:avLst/>
          </a:prstGeom>
          <a:noFill/>
        </p:spPr>
        <p:txBody>
          <a:bodyPr wrap="square">
            <a:spAutoFit/>
          </a:bodyPr>
          <a:lstStyle/>
          <a:p>
            <a:pPr>
              <a:buNone/>
            </a:pPr>
            <a:r>
              <a:rPr lang="en-IN"/>
              <a:t>This report displays supplier contact details and is sorted by country in descending order and company name in ascending order. It helps in organizing supplier information and makes it easier to analyze and manage supplier records.</a:t>
            </a: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555">
                <a:solidFill>
                  <a:schemeClr val="accent6">
                    <a:lumMod val="75000"/>
                  </a:schemeClr>
                </a:solidFill>
              </a:rPr>
              <a:t> Create a report showing ProductName, UnitPrice, QuantityPerUnit of products that are out of stock.</a:t>
            </a:r>
            <a:endParaRPr lang="en-US" sz="3555">
              <a:solidFill>
                <a:schemeClr val="accent6">
                  <a:lumMod val="75000"/>
                </a:schemeClr>
              </a:solidFill>
              <a:effectLst>
                <a:glow rad="228600">
                  <a:schemeClr val="accent1">
                    <a:satMod val="175000"/>
                    <a:alpha val="40000"/>
                  </a:schemeClr>
                </a:glow>
              </a:effectLst>
            </a:endParaRPr>
          </a:p>
        </p:txBody>
      </p:sp>
      <p:sp>
        <p:nvSpPr>
          <p:cNvPr id="3" name="Content Placeholder 2"/>
          <p:cNvSpPr>
            <a:spLocks noGrp="1"/>
          </p:cNvSpPr>
          <p:nvPr>
            <p:ph idx="1"/>
          </p:nvPr>
        </p:nvSpPr>
        <p:spPr>
          <a:xfrm>
            <a:off x="828676" y="2652182"/>
            <a:ext cx="6153149" cy="1303867"/>
          </a:xfrm>
        </p:spPr>
        <p:txBody>
          <a:bodyPr>
            <a:normAutofit/>
          </a:bodyPr>
          <a:lstStyle/>
          <a:p>
            <a:r>
              <a:rPr lang="en-US">
                <a:ln w="0"/>
                <a:solidFill>
                  <a:schemeClr val="tx1"/>
                </a:solidFill>
                <a:effectLst>
                  <a:outerShdw blurRad="38100" dist="19050" dir="2700000" algn="tl" rotWithShape="0">
                    <a:schemeClr val="dk1">
                      <a:alpha val="40000"/>
                    </a:schemeClr>
                  </a:outerShdw>
                </a:effectLst>
              </a:rPr>
              <a:t>select productname, unitprice, quantityperunit from product where unitsinstock = 0;</a:t>
            </a:r>
            <a:endParaRPr lang="en-IN">
              <a:ln w="0"/>
              <a:solidFill>
                <a:schemeClr val="tx1"/>
              </a:solidFill>
              <a:effectLst>
                <a:outerShdw blurRad="38100" dist="19050" dir="2700000" algn="tl" rotWithShape="0">
                  <a:schemeClr val="dk1">
                    <a:alpha val="40000"/>
                  </a:schemeClr>
                </a:outerShdw>
              </a:effectLst>
            </a:endParaRPr>
          </a:p>
        </p:txBody>
      </p:sp>
      <p:sp>
        <p:nvSpPr>
          <p:cNvPr id="7" name="TextBox 6"/>
          <p:cNvSpPr txBox="1"/>
          <p:nvPr/>
        </p:nvSpPr>
        <p:spPr>
          <a:xfrm>
            <a:off x="6210299" y="4572002"/>
            <a:ext cx="4943475" cy="646331"/>
          </a:xfrm>
          <a:prstGeom prst="rect">
            <a:avLst/>
          </a:prstGeom>
          <a:noFill/>
        </p:spPr>
        <p:txBody>
          <a:bodyPr wrap="square">
            <a:spAutoFit/>
          </a:bodyPr>
          <a:lstStyle/>
          <a:p>
            <a:r>
              <a:rPr lang="en-US"/>
              <a:t>Create a report showing ProductName, UnitPrice, QuantityPerUnit of products that are out of stock</a:t>
            </a:r>
            <a:r>
              <a:rPr lang="en-IN">
                <a:effectLst>
                  <a:glow rad="101600">
                    <a:schemeClr val="accent1">
                      <a:satMod val="175000"/>
                      <a:alpha val="40000"/>
                    </a:schemeClr>
                  </a:glow>
                </a:effectLst>
              </a:rPr>
              <a:t>.</a:t>
            </a:r>
            <a:endParaRPr lang="en-IN">
              <a:effectLst>
                <a:glow rad="101600">
                  <a:schemeClr val="accent1">
                    <a:satMod val="175000"/>
                    <a:alpha val="40000"/>
                  </a:schemeClr>
                </a:glow>
              </a:effectLst>
            </a:endParaRPr>
          </a:p>
        </p:txBody>
      </p:sp>
      <p:pic>
        <p:nvPicPr>
          <p:cNvPr id="6" name="Picture 5"/>
          <p:cNvPicPr>
            <a:picLocks noChangeAspect="1"/>
          </p:cNvPicPr>
          <p:nvPr/>
        </p:nvPicPr>
        <p:blipFill>
          <a:blip r:embed="rId1"/>
          <a:stretch>
            <a:fillRect/>
          </a:stretch>
        </p:blipFill>
        <p:spPr>
          <a:xfrm>
            <a:off x="1923949" y="4043793"/>
            <a:ext cx="3215919" cy="130386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0243" y="945065"/>
            <a:ext cx="9601196" cy="1303867"/>
          </a:xfrm>
        </p:spPr>
        <p:txBody>
          <a:bodyPr>
            <a:normAutofit fontScale="90000"/>
          </a:bodyPr>
          <a:lstStyle/>
          <a:p>
            <a:r>
              <a:rPr lang="en-US"/>
              <a:t> </a:t>
            </a:r>
            <a:r>
              <a:rPr lang="en-US" sz="3555">
                <a:ln w="0"/>
                <a:solidFill>
                  <a:schemeClr val="bg2">
                    <a:lumMod val="25000"/>
                  </a:schemeClr>
                </a:solidFill>
                <a:effectLst>
                  <a:outerShdw blurRad="38100" dist="19050" dir="2700000" algn="tl" rotWithShape="0">
                    <a:schemeClr val="dk1">
                      <a:alpha val="40000"/>
                    </a:schemeClr>
                  </a:outerShdw>
                </a:effectLst>
              </a:rPr>
              <a:t>Create a report showing all the ContactName, Address, City of all customers not from Germany, Mexico, Spain.</a:t>
            </a:r>
            <a:endParaRPr lang="en-US" sz="3555">
              <a:ln w="0"/>
              <a:solidFill>
                <a:schemeClr val="bg2">
                  <a:lumMod val="25000"/>
                </a:schemeClr>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a:xfrm>
            <a:off x="742951" y="2680682"/>
            <a:ext cx="5057774" cy="729193"/>
          </a:xfrm>
        </p:spPr>
        <p:txBody>
          <a:bodyPr>
            <a:normAutofit fontScale="70000" lnSpcReduction="20000"/>
          </a:bodyPr>
          <a:lstStyle/>
          <a:p>
            <a:r>
              <a:rPr lang="en-US">
                <a:ln w="0"/>
                <a:solidFill>
                  <a:schemeClr val="tx1"/>
                </a:solidFill>
                <a:effectLst>
                  <a:outerShdw blurRad="38100" dist="19050" dir="2700000" algn="tl" rotWithShape="0">
                    <a:schemeClr val="dk1">
                      <a:alpha val="40000"/>
                    </a:schemeClr>
                  </a:outerShdw>
                </a:effectLst>
              </a:rPr>
              <a:t>select contactname, address, city from customers where city not in ("germany", "mexico", " spain");</a:t>
            </a:r>
            <a:endParaRPr lang="en-IN">
              <a:ln w="0"/>
              <a:solidFill>
                <a:schemeClr val="tx1"/>
              </a:solidFill>
              <a:effectLst>
                <a:outerShdw blurRad="38100" dist="19050" dir="2700000" algn="tl" rotWithShape="0">
                  <a:schemeClr val="dk1">
                    <a:alpha val="40000"/>
                  </a:schemeClr>
                </a:outerShdw>
              </a:effectLst>
            </a:endParaRPr>
          </a:p>
        </p:txBody>
      </p:sp>
      <p:sp>
        <p:nvSpPr>
          <p:cNvPr id="9" name="TextBox 8"/>
          <p:cNvSpPr txBox="1"/>
          <p:nvPr/>
        </p:nvSpPr>
        <p:spPr>
          <a:xfrm>
            <a:off x="7060173" y="4253673"/>
            <a:ext cx="3952875" cy="2031325"/>
          </a:xfrm>
          <a:prstGeom prst="rect">
            <a:avLst/>
          </a:prstGeom>
          <a:noFill/>
        </p:spPr>
        <p:txBody>
          <a:bodyPr wrap="square">
            <a:spAutoFit/>
          </a:bodyPr>
          <a:lstStyle/>
          <a:p>
            <a:r>
              <a:rPr lang="en-IN"/>
              <a:t>This report shows customer details excluding customers from Germany, Mexico, and Spain. It helps analyze customers from other countries and supports better customer management and regional analysis.</a:t>
            </a:r>
            <a:endParaRPr lang="en-IN"/>
          </a:p>
          <a:p>
            <a:r>
              <a:rPr lang="en-IN">
                <a:effectLst>
                  <a:glow rad="63500">
                    <a:schemeClr val="accent6">
                      <a:satMod val="175000"/>
                      <a:alpha val="40000"/>
                    </a:schemeClr>
                  </a:glow>
                </a:effectLst>
              </a:rPr>
              <a:t>.</a:t>
            </a:r>
            <a:endParaRPr lang="en-IN">
              <a:effectLst>
                <a:glow rad="63500">
                  <a:schemeClr val="accent6">
                    <a:satMod val="175000"/>
                    <a:alpha val="40000"/>
                  </a:schemeClr>
                </a:glow>
              </a:effectLst>
            </a:endParaRPr>
          </a:p>
        </p:txBody>
      </p:sp>
      <p:pic>
        <p:nvPicPr>
          <p:cNvPr id="5" name="Picture 4"/>
          <p:cNvPicPr>
            <a:picLocks noChangeAspect="1"/>
          </p:cNvPicPr>
          <p:nvPr/>
        </p:nvPicPr>
        <p:blipFill>
          <a:blip r:embed="rId1"/>
          <a:stretch>
            <a:fillRect/>
          </a:stretch>
        </p:blipFill>
        <p:spPr>
          <a:xfrm>
            <a:off x="1649187" y="3841625"/>
            <a:ext cx="3482642" cy="18727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126" y="929215"/>
            <a:ext cx="9601196" cy="1303867"/>
          </a:xfrm>
        </p:spPr>
        <p:txBody>
          <a:bodyPr>
            <a:noAutofit/>
          </a:bodyPr>
          <a:lstStyle/>
          <a:p>
            <a:r>
              <a:rPr lang="en-US" sz="3200">
                <a:ln w="0"/>
                <a:solidFill>
                  <a:schemeClr val="accent3">
                    <a:lumMod val="75000"/>
                  </a:schemeClr>
                </a:solidFill>
                <a:effectLst>
                  <a:outerShdw blurRad="38100" dist="19050" dir="2700000" algn="tl" rotWithShape="0">
                    <a:schemeClr val="dk1">
                      <a:alpha val="40000"/>
                    </a:schemeClr>
                  </a:outerShdw>
                </a:effectLst>
              </a:rPr>
              <a:t>Create a report that shows the City, CompanyName, ContactName of customers from cities starting with A or B.</a:t>
            </a:r>
            <a:endParaRPr lang="en-US" sz="3200">
              <a:ln w="0"/>
              <a:solidFill>
                <a:schemeClr val="accent3">
                  <a:lumMod val="75000"/>
                </a:schemeClr>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a:xfrm>
            <a:off x="1295401" y="2556932"/>
            <a:ext cx="5572124" cy="1205443"/>
          </a:xfrm>
        </p:spPr>
        <p:txBody>
          <a:bodyPr>
            <a:normAutofit/>
          </a:bodyPr>
          <a:lstStyle/>
          <a:p>
            <a:r>
              <a:rPr lang="en-US">
                <a:ln w="0"/>
                <a:solidFill>
                  <a:schemeClr val="tx1"/>
                </a:solidFill>
                <a:effectLst>
                  <a:outerShdw blurRad="38100" dist="19050" dir="2700000" algn="tl" rotWithShape="0">
                    <a:schemeClr val="dk1">
                      <a:alpha val="40000"/>
                    </a:schemeClr>
                  </a:outerShdw>
                </a:effectLst>
              </a:rPr>
              <a:t>select city, companyname, contactname from customers where city like "A%" or city like "B%";;</a:t>
            </a:r>
            <a:endParaRPr lang="en-IN">
              <a:ln w="0"/>
              <a:solidFill>
                <a:schemeClr val="tx1"/>
              </a:solidFill>
              <a:effectLst>
                <a:outerShdw blurRad="38100" dist="19050" dir="2700000" algn="tl" rotWithShape="0">
                  <a:schemeClr val="dk1">
                    <a:alpha val="40000"/>
                  </a:schemeClr>
                </a:outerShdw>
              </a:effectLst>
            </a:endParaRPr>
          </a:p>
        </p:txBody>
      </p:sp>
      <p:sp>
        <p:nvSpPr>
          <p:cNvPr id="9" name="TextBox 8"/>
          <p:cNvSpPr txBox="1"/>
          <p:nvPr/>
        </p:nvSpPr>
        <p:spPr>
          <a:xfrm>
            <a:off x="1697261" y="4738158"/>
            <a:ext cx="4484463" cy="923330"/>
          </a:xfrm>
          <a:prstGeom prst="rect">
            <a:avLst/>
          </a:prstGeom>
          <a:noFill/>
        </p:spPr>
        <p:txBody>
          <a:bodyPr wrap="square" rtlCol="0">
            <a:spAutoFit/>
          </a:bodyPr>
          <a:lstStyle/>
          <a:p>
            <a:r>
              <a:rPr lang="en-US">
                <a:ln w="0"/>
                <a:effectLst>
                  <a:outerShdw blurRad="38100" dist="19050" dir="2700000" algn="tl" rotWithShape="0">
                    <a:schemeClr val="dk1">
                      <a:alpha val="40000"/>
                    </a:schemeClr>
                  </a:outerShdw>
                </a:effectLst>
              </a:rPr>
              <a:t>Create a report that shows the City, CompanyName, ContactName of customers from cities starting with A or B.</a:t>
            </a:r>
            <a:endParaRPr lang="en-IN">
              <a:effectLst>
                <a:glow rad="101600">
                  <a:schemeClr val="accent3">
                    <a:satMod val="175000"/>
                    <a:alpha val="40000"/>
                  </a:schemeClr>
                </a:glow>
              </a:effectLst>
            </a:endParaRPr>
          </a:p>
        </p:txBody>
      </p:sp>
      <p:pic>
        <p:nvPicPr>
          <p:cNvPr id="5" name="Picture 4"/>
          <p:cNvPicPr>
            <a:picLocks noChangeAspect="1"/>
          </p:cNvPicPr>
          <p:nvPr/>
        </p:nvPicPr>
        <p:blipFill>
          <a:blip r:embed="rId1"/>
          <a:stretch>
            <a:fillRect/>
          </a:stretch>
        </p:blipFill>
        <p:spPr>
          <a:xfrm>
            <a:off x="7307027" y="2969443"/>
            <a:ext cx="3326408" cy="21493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4920" y="981075"/>
            <a:ext cx="9631680" cy="1304925"/>
          </a:xfrm>
        </p:spPr>
        <p:txBody>
          <a:bodyPr>
            <a:normAutofit fontScale="90000"/>
          </a:bodyPr>
          <a:lstStyle/>
          <a:p>
            <a:r>
              <a:rPr lang="en-US" sz="3600">
                <a:ln w="0"/>
                <a:solidFill>
                  <a:schemeClr val="accent6">
                    <a:lumMod val="75000"/>
                  </a:schemeClr>
                </a:solidFill>
                <a:effectLst>
                  <a:outerShdw blurRad="38100" dist="19050" dir="2700000" algn="tl" rotWithShape="0">
                    <a:schemeClr val="dk1">
                      <a:alpha val="40000"/>
                    </a:schemeClr>
                  </a:outerShdw>
                </a:effectLst>
              </a:rPr>
              <a:t>Create a report that shows the ProductName, UnitsInStock, UnitsOnOrder, ReorderLevel of all products that are up for reorder</a:t>
            </a:r>
            <a:r>
              <a:rPr lang="en-US" b="1">
                <a:ln w="22225">
                  <a:solidFill>
                    <a:schemeClr val="accent2"/>
                  </a:solidFill>
                  <a:prstDash val="solid"/>
                </a:ln>
                <a:solidFill>
                  <a:schemeClr val="accent6">
                    <a:lumMod val="60000"/>
                    <a:lumOff val="40000"/>
                  </a:schemeClr>
                </a:solidFill>
                <a:effectLst>
                  <a:glow rad="139700">
                    <a:schemeClr val="accent6">
                      <a:satMod val="175000"/>
                      <a:alpha val="40000"/>
                    </a:schemeClr>
                  </a:glow>
                </a:effectLst>
              </a:rPr>
              <a:t>.</a:t>
            </a:r>
            <a:endParaRPr lang="en-IN" b="1">
              <a:ln w="22225">
                <a:solidFill>
                  <a:schemeClr val="accent2"/>
                </a:solidFill>
                <a:prstDash val="solid"/>
              </a:ln>
              <a:solidFill>
                <a:schemeClr val="accent6">
                  <a:lumMod val="60000"/>
                  <a:lumOff val="40000"/>
                </a:schemeClr>
              </a:solidFill>
              <a:effectLst>
                <a:glow rad="139700">
                  <a:schemeClr val="accent6">
                    <a:satMod val="175000"/>
                    <a:alpha val="40000"/>
                  </a:schemeClr>
                </a:glow>
              </a:effectLst>
            </a:endParaRPr>
          </a:p>
        </p:txBody>
      </p:sp>
      <p:sp>
        <p:nvSpPr>
          <p:cNvPr id="3" name="Content Placeholder 2"/>
          <p:cNvSpPr>
            <a:spLocks noGrp="1"/>
          </p:cNvSpPr>
          <p:nvPr>
            <p:ph idx="1"/>
          </p:nvPr>
        </p:nvSpPr>
        <p:spPr>
          <a:xfrm>
            <a:off x="5591176" y="2649401"/>
            <a:ext cx="5734049" cy="1303867"/>
          </a:xfrm>
        </p:spPr>
        <p:txBody>
          <a:bodyPr>
            <a:normAutofit/>
          </a:bodyPr>
          <a:lstStyle/>
          <a:p>
            <a:r>
              <a:rPr lang="en-US">
                <a:ln w="0"/>
                <a:solidFill>
                  <a:schemeClr val="tx1"/>
                </a:solidFill>
                <a:effectLst>
                  <a:outerShdw blurRad="38100" dist="19050" dir="2700000" algn="tl" rotWithShape="0">
                    <a:schemeClr val="dk1">
                      <a:alpha val="40000"/>
                    </a:schemeClr>
                  </a:outerShdw>
                </a:effectLst>
              </a:rPr>
              <a:t>select productname, unitsinstock, UnitsOnOrder, ReorderLevel from product where unitsinstock &lt;= unitsonorder;</a:t>
            </a:r>
            <a:endParaRPr lang="en-IN">
              <a:ln w="0"/>
              <a:solidFill>
                <a:schemeClr val="tx1"/>
              </a:solidFill>
              <a:effectLst>
                <a:outerShdw blurRad="38100" dist="19050" dir="2700000" algn="tl" rotWithShape="0">
                  <a:schemeClr val="dk1">
                    <a:alpha val="40000"/>
                  </a:schemeClr>
                </a:outerShdw>
              </a:effectLst>
            </a:endParaRPr>
          </a:p>
        </p:txBody>
      </p:sp>
      <p:sp>
        <p:nvSpPr>
          <p:cNvPr id="7" name="TextBox 6"/>
          <p:cNvSpPr txBox="1"/>
          <p:nvPr/>
        </p:nvSpPr>
        <p:spPr>
          <a:xfrm>
            <a:off x="669292" y="4808200"/>
            <a:ext cx="6096000" cy="923330"/>
          </a:xfrm>
          <a:prstGeom prst="rect">
            <a:avLst/>
          </a:prstGeom>
          <a:noFill/>
        </p:spPr>
        <p:txBody>
          <a:bodyPr wrap="square">
            <a:spAutoFit/>
          </a:bodyPr>
          <a:lstStyle/>
          <a:p>
            <a:r>
              <a:rPr lang="en-US">
                <a:ln w="0"/>
                <a:effectLst>
                  <a:outerShdw blurRad="38100" dist="19050" dir="2700000" algn="tl" rotWithShape="0">
                    <a:schemeClr val="dk1">
                      <a:alpha val="40000"/>
                    </a:schemeClr>
                  </a:outerShdw>
                </a:effectLst>
              </a:rPr>
              <a:t>Create a report that shows the ProductName, UnitsInStock, UnitsOnOrder, ReorderLevel of all products that are up for reorder.</a:t>
            </a:r>
            <a:endParaRPr lang="en-IN">
              <a:effectLst>
                <a:glow rad="101600">
                  <a:schemeClr val="accent6">
                    <a:satMod val="175000"/>
                    <a:alpha val="40000"/>
                  </a:schemeClr>
                </a:glow>
              </a:effectLst>
            </a:endParaRPr>
          </a:p>
        </p:txBody>
      </p:sp>
      <p:pic>
        <p:nvPicPr>
          <p:cNvPr id="6" name="Picture 5"/>
          <p:cNvPicPr>
            <a:picLocks noChangeAspect="1"/>
          </p:cNvPicPr>
          <p:nvPr/>
        </p:nvPicPr>
        <p:blipFill>
          <a:blip r:embed="rId1"/>
          <a:stretch>
            <a:fillRect/>
          </a:stretch>
        </p:blipFill>
        <p:spPr>
          <a:xfrm>
            <a:off x="7244416" y="4316759"/>
            <a:ext cx="3863675" cy="158237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4574" y="927281"/>
            <a:ext cx="9601196" cy="1303867"/>
          </a:xfrm>
        </p:spPr>
        <p:txBody>
          <a:bodyPr>
            <a:normAutofit fontScale="90000"/>
          </a:bodyPr>
          <a:lstStyle/>
          <a:p>
            <a:r>
              <a:rPr lang="en-US" sz="3555">
                <a:ln w="0"/>
                <a:solidFill>
                  <a:schemeClr val="accent4">
                    <a:lumMod val="75000"/>
                  </a:schemeClr>
                </a:solidFill>
                <a:effectLst>
                  <a:outerShdw blurRad="38100" dist="19050" dir="2700000" algn="tl" rotWithShape="0">
                    <a:schemeClr val="dk1">
                      <a:alpha val="40000"/>
                    </a:schemeClr>
                  </a:outerShdw>
                </a:effectLst>
              </a:rPr>
              <a:t>Create a report that shows the CompanyName, ContactName number of all customer that have no fax number</a:t>
            </a:r>
            <a:r>
              <a:rPr lang="en-US" sz="3555" b="1">
                <a:ln w="22225">
                  <a:solidFill>
                    <a:schemeClr val="accent2"/>
                  </a:solidFill>
                  <a:prstDash val="solid"/>
                </a:ln>
                <a:solidFill>
                  <a:schemeClr val="accent4">
                    <a:lumMod val="75000"/>
                  </a:schemeClr>
                </a:solidFill>
                <a:effectLst>
                  <a:glow rad="228600">
                    <a:schemeClr val="accent3">
                      <a:satMod val="175000"/>
                      <a:alpha val="40000"/>
                    </a:schemeClr>
                  </a:glow>
                </a:effectLst>
              </a:rPr>
              <a:t>.</a:t>
            </a:r>
            <a:endParaRPr lang="en-US" sz="3555" b="1">
              <a:ln w="22225">
                <a:solidFill>
                  <a:schemeClr val="accent2"/>
                </a:solidFill>
                <a:prstDash val="solid"/>
              </a:ln>
              <a:solidFill>
                <a:schemeClr val="accent4">
                  <a:lumMod val="75000"/>
                </a:schemeClr>
              </a:solidFill>
              <a:effectLst>
                <a:glow rad="228600">
                  <a:schemeClr val="accent3">
                    <a:satMod val="175000"/>
                    <a:alpha val="40000"/>
                  </a:schemeClr>
                </a:glow>
              </a:effectLst>
            </a:endParaRPr>
          </a:p>
        </p:txBody>
      </p:sp>
      <p:sp>
        <p:nvSpPr>
          <p:cNvPr id="3" name="Content Placeholder 2"/>
          <p:cNvSpPr>
            <a:spLocks noGrp="1"/>
          </p:cNvSpPr>
          <p:nvPr>
            <p:ph idx="1"/>
          </p:nvPr>
        </p:nvSpPr>
        <p:spPr>
          <a:xfrm>
            <a:off x="1295401" y="2556932"/>
            <a:ext cx="5067299" cy="1303868"/>
          </a:xfrm>
        </p:spPr>
        <p:txBody>
          <a:bodyPr>
            <a:normAutofit/>
          </a:bodyPr>
          <a:lstStyle/>
          <a:p>
            <a:r>
              <a:rPr lang="en-US">
                <a:ln w="0"/>
                <a:solidFill>
                  <a:schemeClr val="tx1"/>
                </a:solidFill>
                <a:effectLst>
                  <a:outerShdw blurRad="38100" dist="19050" dir="2700000" algn="tl" rotWithShape="0">
                    <a:schemeClr val="dk1">
                      <a:alpha val="40000"/>
                    </a:schemeClr>
                  </a:outerShdw>
                </a:effectLst>
              </a:rPr>
              <a:t>select companyname, contactname, phone from customers where fax is null;</a:t>
            </a:r>
            <a:endParaRPr lang="en-IN">
              <a:ln w="0"/>
              <a:solidFill>
                <a:schemeClr val="tx1"/>
              </a:solidFill>
              <a:effectLst>
                <a:outerShdw blurRad="38100" dist="19050" dir="2700000" algn="tl" rotWithShape="0">
                  <a:schemeClr val="dk1">
                    <a:alpha val="40000"/>
                  </a:schemeClr>
                </a:outerShdw>
              </a:effectLst>
            </a:endParaRPr>
          </a:p>
        </p:txBody>
      </p:sp>
      <p:sp>
        <p:nvSpPr>
          <p:cNvPr id="10" name="TextBox 9"/>
          <p:cNvSpPr txBox="1"/>
          <p:nvPr/>
        </p:nvSpPr>
        <p:spPr>
          <a:xfrm>
            <a:off x="4151623" y="4176393"/>
            <a:ext cx="3276600" cy="1754326"/>
          </a:xfrm>
          <a:prstGeom prst="rect">
            <a:avLst/>
          </a:prstGeom>
          <a:noFill/>
        </p:spPr>
        <p:txBody>
          <a:bodyPr wrap="square" rtlCol="0">
            <a:spAutoFit/>
          </a:bodyPr>
          <a:lstStyle/>
          <a:p>
            <a:r>
              <a:rPr lang="en-IN"/>
              <a:t>This report identifies products that have reached their reorder level. It helps the business monitor low inventory and take timely action to maintain stock availability.</a:t>
            </a:r>
            <a:r>
              <a:rPr lang="en-US">
                <a:effectLst>
                  <a:glow rad="101600">
                    <a:schemeClr val="accent3">
                      <a:satMod val="175000"/>
                      <a:alpha val="40000"/>
                    </a:schemeClr>
                  </a:glow>
                </a:effectLst>
              </a:rPr>
              <a:t> </a:t>
            </a:r>
            <a:endParaRPr lang="en-IN">
              <a:effectLst>
                <a:glow rad="101600">
                  <a:schemeClr val="accent3">
                    <a:satMod val="175000"/>
                    <a:alpha val="40000"/>
                  </a:schemeClr>
                </a:glow>
              </a:effectLst>
            </a:endParaRPr>
          </a:p>
        </p:txBody>
      </p:sp>
      <p:pic>
        <p:nvPicPr>
          <p:cNvPr id="6" name="Picture 5"/>
          <p:cNvPicPr>
            <a:picLocks noChangeAspect="1"/>
          </p:cNvPicPr>
          <p:nvPr/>
        </p:nvPicPr>
        <p:blipFill>
          <a:blip r:embed="rId1"/>
          <a:stretch>
            <a:fillRect/>
          </a:stretch>
        </p:blipFill>
        <p:spPr>
          <a:xfrm>
            <a:off x="7767882" y="3260969"/>
            <a:ext cx="3741744" cy="119966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982132"/>
            <a:ext cx="9601196" cy="1303867"/>
          </a:xfrm>
        </p:spPr>
        <p:txBody>
          <a:bodyPr>
            <a:normAutofit fontScale="90000"/>
          </a:bodyPr>
          <a:lstStyle/>
          <a:p>
            <a:r>
              <a:rPr lang="en-US" b="1">
                <a:ln w="22225">
                  <a:solidFill>
                    <a:schemeClr val="accent2"/>
                  </a:solidFill>
                  <a:prstDash val="solid"/>
                </a:ln>
                <a:solidFill>
                  <a:schemeClr val="accent6">
                    <a:lumMod val="60000"/>
                    <a:lumOff val="40000"/>
                  </a:schemeClr>
                </a:solidFill>
                <a:effectLst>
                  <a:glow rad="139700">
                    <a:schemeClr val="accent6">
                      <a:satMod val="175000"/>
                      <a:alpha val="40000"/>
                    </a:schemeClr>
                  </a:glow>
                </a:effectLst>
              </a:rPr>
              <a:t> </a:t>
            </a:r>
            <a:r>
              <a:rPr lang="en-US" sz="3110">
                <a:ln w="0"/>
                <a:solidFill>
                  <a:schemeClr val="tx2">
                    <a:lumMod val="75000"/>
                    <a:lumOff val="25000"/>
                  </a:schemeClr>
                </a:solidFill>
                <a:effectLst>
                  <a:outerShdw blurRad="38100" dist="19050" dir="2700000" algn="tl" rotWithShape="0">
                    <a:schemeClr val="dk1">
                      <a:alpha val="40000"/>
                    </a:schemeClr>
                  </a:outerShdw>
                </a:effectLst>
              </a:rPr>
              <a:t>Create a report that shows the CompanyName, ContactName, Fax of all customers that do not have Fax number and sorted by ContactName.</a:t>
            </a:r>
            <a:endParaRPr lang="en-US" sz="3110" b="1">
              <a:ln w="0"/>
              <a:solidFill>
                <a:schemeClr val="tx2">
                  <a:lumMod val="75000"/>
                  <a:lumOff val="25000"/>
                </a:schemeClr>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a:xfrm>
            <a:off x="1295401" y="2556932"/>
            <a:ext cx="6400799" cy="1303867"/>
          </a:xfrm>
        </p:spPr>
        <p:txBody>
          <a:bodyPr>
            <a:normAutofit/>
          </a:bodyPr>
          <a:lstStyle/>
          <a:p>
            <a:r>
              <a:rPr lang="en-US">
                <a:ln w="0"/>
                <a:solidFill>
                  <a:schemeClr val="tx1"/>
                </a:solidFill>
                <a:effectLst>
                  <a:outerShdw blurRad="38100" dist="19050" dir="2700000" algn="tl" rotWithShape="0">
                    <a:schemeClr val="dk1">
                      <a:alpha val="40000"/>
                    </a:schemeClr>
                  </a:outerShdw>
                </a:effectLst>
              </a:rPr>
              <a:t>select CompanyName, ContactName, Fax from customers where fax is null order by contactname;</a:t>
            </a:r>
            <a:endParaRPr lang="en-IN">
              <a:ln w="0"/>
              <a:solidFill>
                <a:schemeClr val="tx1"/>
              </a:solidFill>
              <a:effectLst>
                <a:outerShdw blurRad="38100" dist="19050" dir="2700000" algn="tl" rotWithShape="0">
                  <a:schemeClr val="dk1">
                    <a:alpha val="40000"/>
                  </a:schemeClr>
                </a:outerShdw>
              </a:effectLst>
            </a:endParaRPr>
          </a:p>
        </p:txBody>
      </p:sp>
      <p:sp>
        <p:nvSpPr>
          <p:cNvPr id="7" name="TextBox 6"/>
          <p:cNvSpPr txBox="1"/>
          <p:nvPr/>
        </p:nvSpPr>
        <p:spPr>
          <a:xfrm>
            <a:off x="1779780" y="4339904"/>
            <a:ext cx="3552825" cy="1477328"/>
          </a:xfrm>
          <a:prstGeom prst="rect">
            <a:avLst/>
          </a:prstGeom>
          <a:noFill/>
          <a:effectLst>
            <a:glow rad="101600">
              <a:schemeClr val="accent5">
                <a:satMod val="175000"/>
                <a:alpha val="40000"/>
              </a:schemeClr>
            </a:glow>
          </a:effectLst>
        </p:spPr>
        <p:txBody>
          <a:bodyPr wrap="square" rtlCol="0">
            <a:spAutoFit/>
          </a:bodyPr>
          <a:lstStyle/>
          <a:p>
            <a:r>
              <a:rPr lang="en-IN"/>
              <a:t>This report shows customers who do not have fax numbers available. It helps identify missing contact information and improves customer data management.</a:t>
            </a:r>
            <a:endParaRPr lang="en-IN">
              <a:effectLst>
                <a:glow rad="63500">
                  <a:schemeClr val="accent6">
                    <a:satMod val="175000"/>
                    <a:alpha val="40000"/>
                  </a:schemeClr>
                </a:glow>
              </a:effectLst>
            </a:endParaRPr>
          </a:p>
        </p:txBody>
      </p:sp>
      <p:pic>
        <p:nvPicPr>
          <p:cNvPr id="9" name="Picture 8"/>
          <p:cNvPicPr>
            <a:picLocks noChangeAspect="1"/>
          </p:cNvPicPr>
          <p:nvPr/>
        </p:nvPicPr>
        <p:blipFill>
          <a:blip r:embed="rId1"/>
          <a:stretch>
            <a:fillRect/>
          </a:stretch>
        </p:blipFill>
        <p:spPr>
          <a:xfrm>
            <a:off x="7429796" y="3658434"/>
            <a:ext cx="3580711" cy="116808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665">
                <a:ln w="0"/>
                <a:solidFill>
                  <a:schemeClr val="accent5">
                    <a:lumMod val="75000"/>
                  </a:schemeClr>
                </a:solidFill>
                <a:effectLst>
                  <a:outerShdw blurRad="38100" dist="19050" dir="2700000" algn="tl" rotWithShape="0">
                    <a:schemeClr val="dk1">
                      <a:alpha val="40000"/>
                    </a:schemeClr>
                  </a:outerShdw>
                </a:effectLst>
              </a:rPr>
              <a:t>Create a report that shows the City, CompanyName, ContactName of customers from cities that has letter L in the name sorted by ContactName</a:t>
            </a:r>
            <a:r>
              <a:rPr lang="en-US" sz="2665" b="1">
                <a:ln w="22225">
                  <a:solidFill>
                    <a:schemeClr val="accent2"/>
                  </a:solidFill>
                  <a:prstDash val="solid"/>
                </a:ln>
                <a:solidFill>
                  <a:schemeClr val="accent5">
                    <a:lumMod val="75000"/>
                  </a:schemeClr>
                </a:solidFill>
                <a:effectLst>
                  <a:glow rad="139700">
                    <a:schemeClr val="accent3">
                      <a:satMod val="175000"/>
                      <a:alpha val="40000"/>
                    </a:schemeClr>
                  </a:glow>
                </a:effectLst>
              </a:rPr>
              <a:t>.</a:t>
            </a:r>
            <a:endParaRPr lang="en-US" sz="2665" b="1">
              <a:ln w="22225">
                <a:solidFill>
                  <a:schemeClr val="accent2"/>
                </a:solidFill>
                <a:prstDash val="solid"/>
              </a:ln>
              <a:solidFill>
                <a:schemeClr val="accent5">
                  <a:lumMod val="75000"/>
                </a:schemeClr>
              </a:solidFill>
              <a:effectLst>
                <a:glow rad="139700">
                  <a:schemeClr val="accent3">
                    <a:satMod val="175000"/>
                    <a:alpha val="40000"/>
                  </a:schemeClr>
                </a:glow>
              </a:effectLst>
            </a:endParaRPr>
          </a:p>
        </p:txBody>
      </p:sp>
      <p:sp>
        <p:nvSpPr>
          <p:cNvPr id="3" name="Content Placeholder 2"/>
          <p:cNvSpPr>
            <a:spLocks noGrp="1"/>
          </p:cNvSpPr>
          <p:nvPr>
            <p:ph idx="1"/>
          </p:nvPr>
        </p:nvSpPr>
        <p:spPr>
          <a:xfrm>
            <a:off x="1295401" y="2556931"/>
            <a:ext cx="5333999" cy="1148293"/>
          </a:xfrm>
        </p:spPr>
        <p:txBody>
          <a:bodyPr>
            <a:normAutofit lnSpcReduction="10000"/>
          </a:bodyPr>
          <a:lstStyle/>
          <a:p>
            <a:r>
              <a:rPr lang="en-US">
                <a:ln w="0"/>
                <a:solidFill>
                  <a:schemeClr val="tx1"/>
                </a:solidFill>
                <a:effectLst>
                  <a:outerShdw blurRad="38100" dist="19050" dir="2700000" algn="tl" rotWithShape="0">
                    <a:schemeClr val="dk1">
                      <a:alpha val="40000"/>
                    </a:schemeClr>
                  </a:outerShdw>
                </a:effectLst>
              </a:rPr>
              <a:t>select City, CompanyName, ContactName from customers where city like "%l%" order by contactname</a:t>
            </a:r>
            <a:r>
              <a:rPr lang="en-US">
                <a:effectLst>
                  <a:glow rad="101600">
                    <a:schemeClr val="accent3">
                      <a:satMod val="175000"/>
                      <a:alpha val="40000"/>
                    </a:schemeClr>
                  </a:glow>
                </a:effectLst>
              </a:rPr>
              <a:t>;</a:t>
            </a:r>
            <a:endParaRPr lang="en-IN">
              <a:effectLst>
                <a:glow rad="101600">
                  <a:schemeClr val="accent3">
                    <a:satMod val="175000"/>
                    <a:alpha val="40000"/>
                  </a:schemeClr>
                </a:glow>
              </a:effectLst>
            </a:endParaRPr>
          </a:p>
        </p:txBody>
      </p:sp>
      <p:sp>
        <p:nvSpPr>
          <p:cNvPr id="6" name="TextBox 5"/>
          <p:cNvSpPr txBox="1"/>
          <p:nvPr/>
        </p:nvSpPr>
        <p:spPr>
          <a:xfrm>
            <a:off x="6629400" y="4139349"/>
            <a:ext cx="3829050" cy="2031325"/>
          </a:xfrm>
          <a:prstGeom prst="rect">
            <a:avLst/>
          </a:prstGeom>
          <a:noFill/>
        </p:spPr>
        <p:txBody>
          <a:bodyPr wrap="square" rtlCol="0">
            <a:spAutoFit/>
          </a:bodyPr>
          <a:lstStyle/>
          <a:p>
            <a:r>
              <a:rPr lang="en-IN"/>
              <a:t>This report shows customers from cities containing the letter </a:t>
            </a:r>
            <a:r>
              <a:rPr lang="en-IN" b="1"/>
              <a:t>L</a:t>
            </a:r>
            <a:r>
              <a:rPr lang="en-IN"/>
              <a:t> and sorts the data by Contact Name. It helps in filtering customer records and makes customer information easier to analyze and manage.</a:t>
            </a:r>
            <a:endParaRPr lang="en-IN"/>
          </a:p>
          <a:p>
            <a:r>
              <a:rPr lang="en-US">
                <a:effectLst>
                  <a:glow rad="101600">
                    <a:schemeClr val="accent3">
                      <a:satMod val="175000"/>
                      <a:alpha val="40000"/>
                    </a:schemeClr>
                  </a:glow>
                </a:effectLst>
              </a:rPr>
              <a:t>.</a:t>
            </a:r>
            <a:endParaRPr lang="en-IN">
              <a:effectLst>
                <a:glow rad="101600">
                  <a:schemeClr val="accent3">
                    <a:satMod val="175000"/>
                    <a:alpha val="40000"/>
                  </a:schemeClr>
                </a:glow>
              </a:effectLst>
            </a:endParaRPr>
          </a:p>
        </p:txBody>
      </p:sp>
      <p:pic>
        <p:nvPicPr>
          <p:cNvPr id="7" name="Picture 6"/>
          <p:cNvPicPr>
            <a:picLocks noChangeAspect="1"/>
          </p:cNvPicPr>
          <p:nvPr/>
        </p:nvPicPr>
        <p:blipFill>
          <a:blip r:embed="rId1"/>
          <a:stretch>
            <a:fillRect/>
          </a:stretch>
        </p:blipFill>
        <p:spPr>
          <a:xfrm>
            <a:off x="1852802" y="4326170"/>
            <a:ext cx="2941575" cy="1658167"/>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0</TotalTime>
  <Words>5219</Words>
  <Application>WPS Presentation</Application>
  <PresentationFormat>Widescreen</PresentationFormat>
  <Paragraphs>96</Paragraphs>
  <Slides>15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vt:i4>
      </vt:variant>
    </vt:vector>
  </HeadingPairs>
  <TitlesOfParts>
    <vt:vector size="25" baseType="lpstr">
      <vt:lpstr>Arial</vt:lpstr>
      <vt:lpstr>SimSun</vt:lpstr>
      <vt:lpstr>Wingdings</vt:lpstr>
      <vt:lpstr>Arial</vt:lpstr>
      <vt:lpstr>Garamond</vt:lpstr>
      <vt:lpstr>Segoe Print</vt:lpstr>
      <vt:lpstr>Microsoft YaHei</vt:lpstr>
      <vt:lpstr>Arial Unicode MS</vt:lpstr>
      <vt:lpstr>Calibri</vt:lpstr>
      <vt:lpstr>Organic</vt:lpstr>
      <vt:lpstr>E-Commerce Data Analysis Using SQL</vt:lpstr>
      <vt:lpstr>   Introduction</vt:lpstr>
      <vt:lpstr>Objectives</vt:lpstr>
      <vt:lpstr>Database Tables</vt:lpstr>
      <vt:lpstr> Create a report that shows the CategoryName and Description from the categories table sorted by CategoryName.</vt:lpstr>
      <vt:lpstr>Create a report that shows the ContactName, CompanyName, ContactTitle and Phone number from the customers table sorted by Phone.</vt:lpstr>
      <vt:lpstr> Create a report that shows all the CustomerID in lowercase letter and renamed as ID from the customers table.</vt:lpstr>
      <vt:lpstr>Create a report that shows the CompanyName, Fax, Phone, Country, HomePage from the suppliers table sorted by the Country in -- descending order then by CompanyName in ascending order. </vt:lpstr>
      <vt:lpstr> Create a report showing ProductName, UnitPrice, QuantityPerUnit of products that are out of stock.</vt:lpstr>
      <vt:lpstr> Create a report showing all the ContactName, Address, City of all customers not from Germany, Mexico, Spain.</vt:lpstr>
      <vt:lpstr>Create a report that shows the City, CompanyName, ContactName of customers from cities starting with A or B.</vt:lpstr>
      <vt:lpstr>Create a report that shows the ProductName, UnitsInStock, UnitsOnOrder, ReorderLevel of all products that are up for reorder.</vt:lpstr>
      <vt:lpstr>Create a report that shows the CompanyName, ContactName number of all customer that have no fax number.</vt:lpstr>
      <vt:lpstr> Create a report that shows the CompanyName, ContactName, Fax of all customers that do not have Fax number and sorted by ContactName.</vt:lpstr>
      <vt:lpstr>Create a report that shows the City, CompanyName, ContactName of customers from cities that has letter L in the name sorted by ContactName.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rg9212142127@gmail.com</dc:creator>
  <cp:lastModifiedBy>Charu Gupta</cp:lastModifiedBy>
  <cp:revision>2</cp:revision>
  <dcterms:created xsi:type="dcterms:W3CDTF">2026-06-06T09:16:00Z</dcterms:created>
  <dcterms:modified xsi:type="dcterms:W3CDTF">2026-09-11T09:54:41Z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93BF1937CCF44236A2392C74C291AD23_12</vt:lpwstr>
  </property>
</Properties>
</file>